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1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4A1A5C"/>
                </a:solidFill>
                <a:latin typeface="Arial"/>
              </a:rPr>
              <a:t>Posts per month (thousands)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8E3B9E"/>
            </a:solidFill>
            <a:ln w="38100" cap="flat">
              <a:solidFill>
                <a:srgbClr val="8E3B9E"/>
              </a:solidFill>
              <a:prstDash val="solid"/>
              <a:round/>
            </a:ln>
            <a:effectLst/>
          </c:spPr>
          <c:invertIfNegative val="0"/>
          <c:dLbls>
            <c:numFmt formatCode="0.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23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8E3B9E"/>
              </a:solidFill>
              <a:ln w="9525" cap="flat">
                <a:solidFill>
                  <a:srgbClr val="8E3B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Apr-24</c:v>
                  </c:pt>
                  <c:pt idx="1">
                    <c:v>May-24</c:v>
                  </c:pt>
                  <c:pt idx="2">
                    <c:v>Jun-24</c:v>
                  </c:pt>
                  <c:pt idx="3">
                    <c:v>Jul-24</c:v>
                  </c:pt>
                  <c:pt idx="4">
                    <c:v>Aug-24</c:v>
                  </c:pt>
                  <c:pt idx="5">
                    <c:v>Sep-24</c:v>
                  </c:pt>
                  <c:pt idx="6">
                    <c:v>Oct-24</c:v>
                  </c:pt>
                  <c:pt idx="7">
                    <c:v>Nov-24</c:v>
                  </c:pt>
                  <c:pt idx="8">
                    <c:v>Dec-24</c:v>
                  </c:pt>
                  <c:pt idx="9">
                    <c:v>Jan-25</c:v>
                  </c:pt>
                  <c:pt idx="10">
                    <c:v>Feb-25</c:v>
                  </c:pt>
                  <c:pt idx="11">
                    <c:v>Mar-25</c:v>
                  </c:pt>
                  <c:pt idx="12">
                    <c:v>Apr-25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1.6</c:v>
                </c:pt>
                <c:pt idx="1">
                  <c:v>4.3</c:v>
                </c:pt>
                <c:pt idx="2">
                  <c:v>4.2</c:v>
                </c:pt>
                <c:pt idx="3">
                  <c:v>4.1</c:v>
                </c:pt>
                <c:pt idx="4">
                  <c:v>4.2</c:v>
                </c:pt>
                <c:pt idx="5">
                  <c:v>4.2</c:v>
                </c:pt>
                <c:pt idx="6">
                  <c:v>4.2</c:v>
                </c:pt>
                <c:pt idx="7">
                  <c:v>4.1</c:v>
                </c:pt>
                <c:pt idx="8">
                  <c:v>4.3</c:v>
                </c:pt>
                <c:pt idx="9">
                  <c:v>4.2</c:v>
                </c:pt>
                <c:pt idx="10">
                  <c:v>3.9</c:v>
                </c:pt>
                <c:pt idx="11">
                  <c:v>4.1</c:v>
                </c:pt>
                <c:pt idx="12">
                  <c:v>2.5</c:v>
                </c:pt>
              </c:numCache>
            </c:numRef>
          </c:val>
          <c:smooth val="0"/>
        </c:ser>
        <c:dLbls>
          <c:numFmt formatCode="0.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B1236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2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A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4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1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4A1A5C"/>
                </a:solidFill>
                <a:latin typeface="Arial"/>
              </a:rPr>
              <a:t>Average likes per post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likes</c:v>
                </c:pt>
              </c:strCache>
            </c:strRef>
          </c:tx>
          <c:spPr>
            <a:solidFill>
              <a:srgbClr val="8E3B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2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Story</c:v>
                  </c:pt>
                  <c:pt idx="1">
                    <c:v>Reel</c:v>
                  </c:pt>
                  <c:pt idx="2">
                    <c:v>Image</c:v>
                  </c:pt>
                  <c:pt idx="3">
                    <c:v>Video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2964</c:v>
                </c:pt>
                <c:pt idx="1">
                  <c:v>2960</c:v>
                </c:pt>
                <c:pt idx="2">
                  <c:v>2954</c:v>
                </c:pt>
                <c:pt idx="3">
                  <c:v>2941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2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2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"/>
          <c:min val="0"/>
        </c:scaling>
        <c:delete val="0"/>
        <c:axPos val="l"/>
        <c:majorGridlines>
          <c:spPr>
            <a:ln w="6350" cap="flat">
              <a:solidFill>
                <a:srgbClr val="EA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4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1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4A1A5C"/>
                </a:solidFill>
                <a:latin typeface="Arial"/>
              </a:rPr>
              <a:t>Average comments and saves per post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comments</c:v>
                </c:pt>
              </c:strCache>
            </c:strRef>
          </c:tx>
          <c:spPr>
            <a:solidFill>
              <a:srgbClr val="E58F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2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Story</c:v>
                  </c:pt>
                  <c:pt idx="1">
                    <c:v>Reel</c:v>
                  </c:pt>
                  <c:pt idx="2">
                    <c:v>Image</c:v>
                  </c:pt>
                  <c:pt idx="3">
                    <c:v>Video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371</c:v>
                </c:pt>
                <c:pt idx="1">
                  <c:v>369</c:v>
                </c:pt>
                <c:pt idx="2">
                  <c:v>367</c:v>
                </c:pt>
                <c:pt idx="3">
                  <c:v>370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saves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2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Story</c:v>
                  </c:pt>
                  <c:pt idx="1">
                    <c:v>Reel</c:v>
                  </c:pt>
                  <c:pt idx="2">
                    <c:v>Image</c:v>
                  </c:pt>
                  <c:pt idx="3">
                    <c:v>Video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178</c:v>
                </c:pt>
                <c:pt idx="1">
                  <c:v>178</c:v>
                </c:pt>
                <c:pt idx="2">
                  <c:v>177</c:v>
                </c:pt>
                <c:pt idx="3">
                  <c:v>176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2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2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"/>
          <c:min val="0"/>
        </c:scaling>
        <c:delete val="0"/>
        <c:axPos val="l"/>
        <c:majorGridlines>
          <c:spPr>
            <a:ln w="6350" cap="flat">
              <a:solidFill>
                <a:srgbClr val="EA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4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1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4A1A5C"/>
                </a:solidFill>
                <a:latin typeface="Arial"/>
              </a:rPr>
              <a:t>Avg engagement rate by day of week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</c:v>
                </c:pt>
              </c:strCache>
            </c:strRef>
          </c:tx>
          <c:spPr>
            <a:solidFill>
              <a:srgbClr val="8E3B9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2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18.5</c:v>
                </c:pt>
                <c:pt idx="1">
                  <c:v>18.6</c:v>
                </c:pt>
                <c:pt idx="2">
                  <c:v>18.6</c:v>
                </c:pt>
                <c:pt idx="3">
                  <c:v>18.5</c:v>
                </c:pt>
                <c:pt idx="4">
                  <c:v>18.6</c:v>
                </c:pt>
                <c:pt idx="5">
                  <c:v>18.6</c:v>
                </c:pt>
                <c:pt idx="6">
                  <c:v>18.4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B12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2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6350" cap="flat">
              <a:solidFill>
                <a:srgbClr val="EA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4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1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4A1A5C"/>
                </a:solidFill>
                <a:latin typeface="Arial"/>
              </a:rPr>
              <a:t>Total reach by hashtag (millions)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</c:v>
                </c:pt>
              </c:strCache>
            </c:strRef>
          </c:tx>
          <c:spPr>
            <a:solidFill>
              <a:srgbClr val="E58FB0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2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#VeganBeauty</c:v>
                  </c:pt>
                  <c:pt idx="1">
                    <c:v>#SugarCosmetics</c:v>
                  </c:pt>
                  <c:pt idx="2">
                    <c:v>#BoldLooks</c:v>
                  </c:pt>
                  <c:pt idx="3">
                    <c:v>#MakeupGoals</c:v>
                  </c:pt>
                  <c:pt idx="4">
                    <c:v>#CrueltyFree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196</c:v>
                </c:pt>
                <c:pt idx="1">
                  <c:v>196</c:v>
                </c:pt>
                <c:pt idx="2">
                  <c:v>196</c:v>
                </c:pt>
                <c:pt idx="3">
                  <c:v>197</c:v>
                </c:pt>
                <c:pt idx="4">
                  <c:v>202</c:v>
                </c:pt>
              </c:numCache>
            </c:numRef>
          </c:val>
        </c:ser>
        <c:dLbls>
          <c:numFmt formatCode="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B12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2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b"/>
        <c:majorGridlines>
          <c:spPr>
            <a:ln w="6350" cap="flat">
              <a:solidFill>
                <a:srgbClr val="EA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4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analysing Sugar Cosmetics Instagram performance to recommend social media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interactive dashboard combining all analyses, filterable by month, post type and hashtag.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rate = (likes+comments+shares+saves)/reach, roughly 183M/987M.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Posting is very consistent. The first and last months are the outliers and should be validated against the data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Image, Reel, Story and Video. Differences between formats are under 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Weekday spread is only 0.2 points. Hashtag reach spread is about 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Impressions to reach shows moderate repeat viewing. The steepest drop is from likes to shares and saves.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by likes rewards big reach; ranking by engagement rate reveals efficient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tie back to the dashboard: consistent cadence, near-equal formats, funnel drop at shares/saves, and data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731520"/>
            <a:ext cx="3108960" cy="3108960"/>
          </a:xfrm>
          <a:prstGeom prst="ellipse">
            <a:avLst/>
          </a:prstGeom>
          <a:solidFill>
            <a:srgbClr val="8E3B9E">
              <a:alpha val="70000"/>
            </a:srgbClr>
          </a:solidFill>
          <a:ln w="12700">
            <a:solidFill>
              <a:srgbClr val="8E3B9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108960"/>
            <a:ext cx="2194560" cy="2194560"/>
          </a:xfrm>
          <a:prstGeom prst="ellipse">
            <a:avLst/>
          </a:prstGeom>
          <a:solidFill>
            <a:srgbClr val="E58FB0">
              <a:alpha val="75000"/>
            </a:srgbClr>
          </a:solidFill>
          <a:ln w="12700">
            <a:solidFill>
              <a:srgbClr val="E58FB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4023360"/>
            <a:ext cx="2377440" cy="2377440"/>
          </a:xfrm>
          <a:prstGeom prst="ellipse">
            <a:avLst/>
          </a:prstGeom>
          <a:solidFill>
            <a:srgbClr val="D9B8E3">
              <a:alpha val="75000"/>
            </a:srgbClr>
          </a:solidFill>
          <a:ln w="12700">
            <a:solidFill>
              <a:srgbClr val="D9B8E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274320"/>
            <a:ext cx="1005840" cy="1005840"/>
          </a:xfrm>
          <a:prstGeom prst="ellipse">
            <a:avLst/>
          </a:prstGeom>
          <a:solidFill>
            <a:srgbClr val="E8743B">
              <a:alpha val="80000"/>
            </a:srgbClr>
          </a:solidFill>
          <a:ln w="12700">
            <a:solidFill>
              <a:srgbClr val="E874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2743200"/>
            <a:ext cx="914400" cy="914400"/>
          </a:xfrm>
          <a:prstGeom prst="ellipse">
            <a:avLst/>
          </a:prstGeom>
          <a:solidFill>
            <a:srgbClr val="E58FB0">
              <a:alpha val="65000"/>
            </a:srgbClr>
          </a:solidFill>
          <a:ln w="12700">
            <a:solidFill>
              <a:srgbClr val="E58FB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 |  SOCIAL MEDIA ANALYTICS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Performance Analytics for Sugar Cosmetics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06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B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insights, business implications and strategic recommendations from 50K posts (Apr 2024 – Apr 2025)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B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  |  Stakeholder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-457200"/>
            <a:ext cx="1463040" cy="1463040"/>
          </a:xfrm>
          <a:prstGeom prst="ellipse">
            <a:avLst/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274320"/>
            <a:ext cx="731520" cy="731520"/>
          </a:xfrm>
          <a:prstGeom prst="ellipse">
            <a:avLst/>
          </a:prstGeom>
          <a:solidFill>
            <a:srgbClr val="D9B8E3">
              <a:alpha val="60000"/>
            </a:srgbClr>
          </a:solidFill>
          <a:ln w="12700">
            <a:solidFill>
              <a:srgbClr val="D9B8E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Instagram Insights Dashboard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8321040" cy="5212080"/>
          </a:xfrm>
          <a:prstGeom prst="roundRect">
            <a:avLst>
              <a:gd name="adj" fmla="val 1754"/>
            </a:avLst>
          </a:prstGeom>
          <a:solidFill>
            <a:srgbClr val="FCEAF3"/>
          </a:solidFill>
          <a:ln w="12700">
            <a:solidFill>
              <a:srgbClr val="D9B8E3"/>
            </a:solidFill>
            <a:prstDash val="solid"/>
          </a:ln>
        </p:spPr>
      </p:sp>
      <p:pic>
        <p:nvPicPr>
          <p:cNvPr id="7" name="Image 0" descr="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8138160" cy="508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06840" y="1234440"/>
            <a:ext cx="2724912" cy="5212080"/>
          </a:xfrm>
          <a:prstGeom prst="roundRect">
            <a:avLst>
              <a:gd name="adj" fmla="val 5034"/>
            </a:avLst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35440" y="139903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answers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235440" y="1828800"/>
            <a:ext cx="22677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account health (5 KPIs)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consistency over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formats, days and hashtags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users drop off in the funnel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posts by likes and by engagement rate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Month, Post Type, Hashtag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-457200"/>
            <a:ext cx="1463040" cy="1463040"/>
          </a:xfrm>
          <a:prstGeom prst="ellipse">
            <a:avLst/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274320"/>
            <a:ext cx="731520" cy="731520"/>
          </a:xfrm>
          <a:prstGeom prst="ellipse">
            <a:avLst/>
          </a:prstGeom>
          <a:solidFill>
            <a:srgbClr val="D9B8E3">
              <a:alpha val="60000"/>
            </a:srgbClr>
          </a:solidFill>
          <a:ln w="12700">
            <a:solidFill>
              <a:srgbClr val="D9B8E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the account performing overall?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103120" cy="1737360"/>
          </a:xfrm>
          <a:prstGeom prst="roundRect">
            <a:avLst>
              <a:gd name="adj" fmla="val 7895"/>
            </a:avLst>
          </a:prstGeom>
          <a:solidFill>
            <a:srgbClr val="4A1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50K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61488" y="1371600"/>
            <a:ext cx="2103120" cy="1737360"/>
          </a:xfrm>
          <a:prstGeom prst="roundRect">
            <a:avLst>
              <a:gd name="adj" fmla="val 7895"/>
            </a:avLst>
          </a:prstGeom>
          <a:solidFill>
            <a:srgbClr val="8E3B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61488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987M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Reach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65776" y="1371600"/>
            <a:ext cx="2103120" cy="1737360"/>
          </a:xfrm>
          <a:prstGeom prst="roundRect">
            <a:avLst>
              <a:gd name="adj" fmla="val 7895"/>
            </a:avLst>
          </a:prstGeom>
          <a:solidFill>
            <a:srgbClr val="4A1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65776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148M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5065776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70064" y="1371600"/>
            <a:ext cx="2103120" cy="1737360"/>
          </a:xfrm>
          <a:prstGeom prst="roundRect">
            <a:avLst>
              <a:gd name="adj" fmla="val 7895"/>
            </a:avLst>
          </a:prstGeom>
          <a:solidFill>
            <a:srgbClr val="8E3B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70064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18M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370064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74352" y="1371600"/>
            <a:ext cx="2103120" cy="1737360"/>
          </a:xfrm>
          <a:prstGeom prst="roundRect">
            <a:avLst>
              <a:gd name="adj" fmla="val 7895"/>
            </a:avLst>
          </a:prstGeom>
          <a:solidFill>
            <a:srgbClr val="4A1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74352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18.54%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9674352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 Rate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3657600" cy="1737360"/>
          </a:xfrm>
          <a:prstGeom prst="roundRect">
            <a:avLst>
              <a:gd name="adj" fmla="val 7895"/>
            </a:avLst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611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~2,960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434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likes per post (148M ÷ 50K)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61104" y="3429000"/>
            <a:ext cx="3657600" cy="1737360"/>
          </a:xfrm>
          <a:prstGeom prst="roundRect">
            <a:avLst>
              <a:gd name="adj" fmla="val 7895"/>
            </a:avLst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35424" y="3611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~360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4535424" y="4434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comments per post (18M ÷ 50K)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65008" y="3429000"/>
            <a:ext cx="3657600" cy="1737360"/>
          </a:xfrm>
          <a:prstGeom prst="roundRect">
            <a:avLst>
              <a:gd name="adj" fmla="val 7895"/>
            </a:avLst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39328" y="3611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~19.7K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8339328" y="4434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reach per post (987M ÷ 50K)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5440680"/>
            <a:ext cx="11274552" cy="731520"/>
          </a:xfrm>
          <a:prstGeom prst="roundRect">
            <a:avLst>
              <a:gd name="adj" fmla="val 18750"/>
            </a:avLst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440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18.54% engagement rate (interactions ÷ reach) shows the audience is highly responsive; the opportunity is scaling that consistently.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-457200"/>
            <a:ext cx="1463040" cy="1463040"/>
          </a:xfrm>
          <a:prstGeom prst="ellipse">
            <a:avLst/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274320"/>
            <a:ext cx="731520" cy="731520"/>
          </a:xfrm>
          <a:prstGeom prst="ellipse">
            <a:avLst/>
          </a:prstGeom>
          <a:solidFill>
            <a:srgbClr val="D9B8E3">
              <a:alpha val="60000"/>
            </a:srgbClr>
          </a:solidFill>
          <a:ln w="12700">
            <a:solidFill>
              <a:srgbClr val="D9B8E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posting trend: a steady ~4.2K posts a month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75895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321040" y="1280160"/>
            <a:ext cx="3410712" cy="2286000"/>
          </a:xfrm>
          <a:prstGeom prst="roundRect">
            <a:avLst>
              <a:gd name="adj" fmla="val 6000"/>
            </a:avLst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49640" y="144475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cadence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187452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May-24 to Mar-25 stays between 3.9K and 4.3K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Dec-24 is the peak at 4.3K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321040" y="3840480"/>
            <a:ext cx="3410712" cy="2377440"/>
          </a:xfrm>
          <a:prstGeom prst="roundRect">
            <a:avLst>
              <a:gd name="adj" fmla="val 5769"/>
            </a:avLst>
          </a:prstGeom>
          <a:solidFill>
            <a:srgbClr val="FDE7DA"/>
          </a:solidFill>
          <a:ln w="12700">
            <a:solidFill>
              <a:srgbClr val="FDE7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400507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edges to check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4434840"/>
            <a:ext cx="2953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Apr-24 (1.6K) looks like the ramp-up start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Apr-25 (2.5K) drop: confirm if the month is partial or output truly fell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-457200"/>
            <a:ext cx="1463040" cy="1463040"/>
          </a:xfrm>
          <a:prstGeom prst="ellipse">
            <a:avLst/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274320"/>
            <a:ext cx="731520" cy="731520"/>
          </a:xfrm>
          <a:prstGeom prst="ellipse">
            <a:avLst/>
          </a:prstGeom>
          <a:solidFill>
            <a:srgbClr val="D9B8E3">
              <a:alpha val="60000"/>
            </a:srgbClr>
          </a:solidFill>
          <a:ln w="12700">
            <a:solidFill>
              <a:srgbClr val="D9B8E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type: all formats perform almost identically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217920" y="128016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623560"/>
            <a:ext cx="11274552" cy="731520"/>
          </a:xfrm>
          <a:prstGeom prst="roundRect">
            <a:avLst>
              <a:gd name="adj" fmla="val 18750"/>
            </a:avLst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56235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(2,964) and Reel (2,960) lead by under 1%, so no format needs cutting. Format choice matters less than creative quality.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-457200"/>
            <a:ext cx="1463040" cy="1463040"/>
          </a:xfrm>
          <a:prstGeom prst="ellipse">
            <a:avLst/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274320"/>
            <a:ext cx="731520" cy="731520"/>
          </a:xfrm>
          <a:prstGeom prst="ellipse">
            <a:avLst/>
          </a:prstGeom>
          <a:solidFill>
            <a:srgbClr val="D9B8E3">
              <a:alpha val="60000"/>
            </a:srgbClr>
          </a:solidFill>
          <a:ln w="12700">
            <a:solidFill>
              <a:srgbClr val="D9B8E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days and hashtags: small edges, useful tie-breakers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217920" y="128016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623560"/>
            <a:ext cx="11274552" cy="731520"/>
          </a:xfrm>
          <a:prstGeom prst="roundRect">
            <a:avLst>
              <a:gd name="adj" fmla="val 18750"/>
            </a:avLst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56235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Tue, Wed, Fri and Sat edge out Sunday (18.6% vs 18.4%). #CrueltyFree leads reach at 202M, so make it the anchor hashtag.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-457200"/>
            <a:ext cx="1463040" cy="1463040"/>
          </a:xfrm>
          <a:prstGeom prst="ellipse">
            <a:avLst/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274320"/>
            <a:ext cx="731520" cy="731520"/>
          </a:xfrm>
          <a:prstGeom prst="ellipse">
            <a:avLst/>
          </a:prstGeom>
          <a:solidFill>
            <a:srgbClr val="D9B8E3">
              <a:alpha val="60000"/>
            </a:srgbClr>
          </a:solidFill>
          <a:ln w="12700">
            <a:solidFill>
              <a:srgbClr val="D9B8E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funnel: reach converts well, shares and saves lag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0" y="132588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4A1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13258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1276M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2082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70854" y="2020824"/>
            <a:ext cx="3819412" cy="566928"/>
          </a:xfrm>
          <a:prstGeom prst="roundRect">
            <a:avLst>
              <a:gd name="adj" fmla="val 12903"/>
            </a:avLst>
          </a:prstGeom>
          <a:solidFill>
            <a:srgbClr val="8E3B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86600" y="202082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157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94201" y="2715768"/>
            <a:ext cx="572718" cy="566928"/>
          </a:xfrm>
          <a:prstGeom prst="roundRect">
            <a:avLst>
              <a:gd name="adj" fmla="val 12903"/>
            </a:avLst>
          </a:prstGeom>
          <a:solidFill>
            <a:srgbClr val="B05C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27157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107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43400" y="3410712"/>
            <a:ext cx="274320" cy="566928"/>
          </a:xfrm>
          <a:prstGeom prst="roundRect">
            <a:avLst>
              <a:gd name="adj" fmla="val 26667"/>
            </a:avLst>
          </a:prstGeom>
          <a:solidFill>
            <a:srgbClr val="E58F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34107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056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4105656"/>
            <a:ext cx="274320" cy="566928"/>
          </a:xfrm>
          <a:prstGeom prst="roundRect">
            <a:avLst>
              <a:gd name="adj" fmla="val 26667"/>
            </a:avLst>
          </a:prstGeom>
          <a:solidFill>
            <a:srgbClr val="F0B0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410565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00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43400" y="4800600"/>
            <a:ext cx="274320" cy="566928"/>
          </a:xfrm>
          <a:prstGeom prst="roundRect">
            <a:avLst>
              <a:gd name="adj" fmla="val 26667"/>
            </a:avLst>
          </a:prstGeom>
          <a:solidFill>
            <a:srgbClr val="F0B0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86600" y="48006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3920" y="1325880"/>
            <a:ext cx="3227832" cy="914400"/>
          </a:xfrm>
          <a:prstGeom prst="roundRect">
            <a:avLst>
              <a:gd name="adj" fmla="val 12000"/>
            </a:avLst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0" y="1325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77.4%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1325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impressions are unique reach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2377440"/>
            <a:ext cx="3227832" cy="914400"/>
          </a:xfrm>
          <a:prstGeom prst="roundRect">
            <a:avLst>
              <a:gd name="adj" fmla="val 12000"/>
            </a:avLst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0" y="2377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15.0%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reached accounts like a post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3429000"/>
            <a:ext cx="3227832" cy="914400"/>
          </a:xfrm>
          <a:prstGeom prst="roundRect">
            <a:avLst>
              <a:gd name="adj" fmla="val 12000"/>
            </a:avLst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0" y="3429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12.2%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likes are matched by comments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03920" y="4480560"/>
            <a:ext cx="3227832" cy="914400"/>
          </a:xfrm>
          <a:prstGeom prst="roundRect">
            <a:avLst>
              <a:gd name="adj" fmla="val 12000"/>
            </a:avLst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0" y="4480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~1.7%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0" y="4480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reach shares or saves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623560"/>
            <a:ext cx="11274552" cy="731520"/>
          </a:xfrm>
          <a:prstGeom prst="roundRect">
            <a:avLst>
              <a:gd name="adj" fmla="val 18750"/>
            </a:avLst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56235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are healthy, but only about 17M shares and saves come from 987M reach. That is the biggest untapped engagement lever.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-457200"/>
            <a:ext cx="1463040" cy="1463040"/>
          </a:xfrm>
          <a:prstGeom prst="ellipse">
            <a:avLst/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274320"/>
            <a:ext cx="731520" cy="731520"/>
          </a:xfrm>
          <a:prstGeom prst="ellipse">
            <a:avLst/>
          </a:prstGeom>
          <a:solidFill>
            <a:srgbClr val="D9B8E3">
              <a:alpha val="60000"/>
            </a:srgbClr>
          </a:solidFill>
          <a:ln w="12700">
            <a:solidFill>
              <a:srgbClr val="D9B8E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posts: by likes vs by engagement rate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by likes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199632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by engagement rate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532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508760"/>
                <a:gridCol w="1005840"/>
                <a:gridCol w="1280160"/>
                <a:gridCol w="13258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A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Oct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May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Mar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Apr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Nov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Jun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Jun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May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Feb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Oct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600200"/>
          <a:ext cx="5532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508760"/>
                <a:gridCol w="1005840"/>
                <a:gridCol w="1280160"/>
                <a:gridCol w="13258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A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Apr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May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Oct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Mar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Oct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Feb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Nov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Jan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Feb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Nov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440680"/>
            <a:ext cx="11274552" cy="731520"/>
          </a:xfrm>
          <a:prstGeom prst="roundRect">
            <a:avLst>
              <a:gd name="adj" fmla="val 18750"/>
            </a:avLst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5440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Top-liked posts span all four formats. The top-engagement list includes a 1,791-like Video at 33.96%: small posts can be hidden gems worth reusing.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-457200"/>
            <a:ext cx="1463040" cy="1463040"/>
          </a:xfrm>
          <a:prstGeom prst="ellipse">
            <a:avLst/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274320"/>
            <a:ext cx="731520" cy="731520"/>
          </a:xfrm>
          <a:prstGeom prst="ellipse">
            <a:avLst/>
          </a:prstGeom>
          <a:solidFill>
            <a:srgbClr val="D9B8E3">
              <a:alpha val="60000"/>
            </a:srgbClr>
          </a:solidFill>
          <a:ln w="12700">
            <a:solidFill>
              <a:srgbClr val="D9B8E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E3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532120" cy="2103120"/>
          </a:xfrm>
          <a:prstGeom prst="roundRect">
            <a:avLst>
              <a:gd name="adj" fmla="val 6522"/>
            </a:avLst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533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and frequency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~4.2K posts/month cadence; investigate the Feb-25 and Apr-25 dips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Tue, Wed, Fri and Sat; test Sunday-specific content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188720"/>
            <a:ext cx="5532120" cy="2103120"/>
          </a:xfrm>
          <a:prstGeom prst="roundRect">
            <a:avLst>
              <a:gd name="adj" fmla="val 6522"/>
            </a:avLst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3533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mix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17830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Stories and Reels, but keep all four formats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high-engagement "hidden gem" posts as creative templates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5532120" cy="2103120"/>
          </a:xfrm>
          <a:prstGeom prst="roundRect">
            <a:avLst>
              <a:gd name="adj" fmla="val 6522"/>
            </a:avLst>
          </a:prstGeom>
          <a:solidFill>
            <a:srgbClr val="FCEAF3"/>
          </a:solidFill>
          <a:ln w="12700">
            <a:solidFill>
              <a:srgbClr val="FCEA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6393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3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and growth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0690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save-worthy tutorials, shade guides and share CTAs to lift saves and shares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posts with #CrueltyFree and #MakeupGoals; use comment prompts and polls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3474720"/>
            <a:ext cx="5532120" cy="2103120"/>
          </a:xfrm>
          <a:prstGeom prst="roundRect">
            <a:avLst>
              <a:gd name="adj" fmla="val 6522"/>
            </a:avLst>
          </a:prstGeom>
          <a:solidFill>
            <a:srgbClr val="FDE7DA"/>
          </a:solidFill>
          <a:ln w="12700">
            <a:solidFill>
              <a:srgbClr val="FDE7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36393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ideas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40690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#CrueltyFree x #VeganBeauty education series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#BoldLooks Reel challenge with user-generated content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"Save this" shade-match guides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760720"/>
            <a:ext cx="11274552" cy="731520"/>
          </a:xfrm>
          <a:prstGeom prst="roundRect">
            <a:avLst>
              <a:gd name="adj" fmla="val 18750"/>
            </a:avLst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7607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gap: no audience demographics, follower counts or Carousel posts in the data. Add them next cycle to measure growth and audience fit.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2026-09-24T14:58:47Z</dcterms:created>
  <dcterms:modified xsi:type="dcterms:W3CDTF">2026-09-24T14:58:47Z</dcterms:modified>
</cp:coreProperties>
</file>